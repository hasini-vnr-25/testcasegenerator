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67" y="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137160" cy="1402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38BDF8"/>
                </a:solidFill>
                <a:latin typeface="Segoe UI"/>
              </a:rPr>
              <a:t>CURRICULAR BASED PROJECT (CBP) PRESENTATION</a:t>
            </a:r>
          </a:p>
          <a:p>
            <a:pPr>
              <a:spcAft>
                <a:spcPts val="800"/>
              </a:spcAft>
            </a:pPr>
            <a:r>
              <a:rPr sz="2600" b="1" dirty="0">
                <a:solidFill>
                  <a:srgbClr val="FFFFFF"/>
                </a:solidFill>
                <a:latin typeface="Segoe UI"/>
              </a:rPr>
              <a:t>Database Management Systems (DBMS) in Action:
Engineering a 3NF Relational Test Intelligence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CURRICULUM MAPPING | VNRVJIET 3RD SEM CSBS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DBMS Syllabus Alignment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2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4520" y="13868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2764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Syllabus Units I to III Focus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Unit I: Concepts &amp; ER Modeling: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Entities, Primary/Foreign Keys, 3-Tier Enterprise architecture mapped to 10 entities.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Unit II: Relational Languages &amp; SQL: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DDL constraints (CASCADE/SET NULL), nested joins, subqueries, and analytical SQL Views.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Unit III: Normalization Theory: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Strict 1NF -&gt; 2NF -&gt; 3NF decomposition, functional dependency preservation, anomaly removal.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3868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2764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Syllabus Units IV &amp; V Focus</a:t>
            </a:r>
          </a:p>
          <a:p>
            <a:pPr>
              <a:spcAft>
                <a:spcPts val="600"/>
              </a:spcAft>
            </a:pPr>
            <a:r>
              <a:rPr sz="1050"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Unit IV: Transactions &amp; ACID: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Spring @Transactional service boundaries, serializability, and rollback safety.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Unit V: Indexing &amp; Storage: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B-Tree secondary composite indexing on FKs &amp; timestamps, query execution plan optimization.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Industry Portability: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Zero-config embedded H2 for rapid local testing + standard DDL for MySQL 8.0 &amp; PostgreSQL 15.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DBMS UNIT I | DATA ABSTRACTION &amp; ER DESIGN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I: Conceptual Data Modeling &amp; 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3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22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112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Theoretical &amp; Architectural Concepts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Entity Set Design: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10 Normalized Relational Entities structured across metadata, execution batches, and metrics.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Strong &amp; Weak Entities: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Strong entities: PROJECTS, CLASSES, TEST_RUNS. Associative child entities: TEST_RESULTS, COVERAGE_RESULTS.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Cardinality Ratios: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PROJECTS (1) -&gt; (N) CLASSES; CLASSES (1) -&gt; (N) METHODS; CLASSES (1) -&gt; (N) TEST_CASES.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Multi-Tier Abstraction: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Physical storage (H2/MySQL) -&gt; Logical Relational Schema (3NF) -&gt; View Level (UI Dashboards).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[SQL] </a:t>
            </a:r>
            <a:r>
              <a:rPr sz="1000" b="1">
                <a:solidFill>
                  <a:srgbClr val="94A3B8"/>
                </a:solidFill>
                <a:latin typeface="Consolas"/>
              </a:rPr>
              <a:t>Relational DDL Implementation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-- Entity Definition Snippet: Project &amp; Class Entities
CREATE TABLE projects (
    id BIGINT AUTO_INCREMENT PRIMARY KEY,
    name VARCHAR(150) NOT NULL,
    upload_date TIMESTAMP NOT NULL,
    description VARCHAR(500)
);
CREATE TABLE classes (
    id BIGINT AUTO_INCREMENT PRIMARY KEY,
    project_id BIGINT NOT NULL,
    class_name VARCHAR(150) NOT NULL,
    package_name VARCHAR(200),
    source_hash VARCHAR(64) NOT NULL,
    CONSTRAINT fk_classes_project
        FOREIGN KEY (project_id) REFERENCES projects(id)
        ON DELETE CASCADE
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DBMS UNIT II | DDL &amp; REFERENTIAL INTEGRITY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II: Relational Integrity &amp; Cascading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4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4520" y="137160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112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Constraint Design Principles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Referential Integrity: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Enforces foreign key relationships across all 10 tables, preventing orphan test results.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ON DELETE CASCADE: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Deleting a parent Project or Class cleanly purges all dependent test cases, results, and mutants.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ON DELETE SET NULL: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Deleting a Method retains the historical Test Case record with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method_id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set to NULL.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Default Constraints: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Assertion counts, flakiness counters, and execution durations default safely to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[SQL] </a:t>
            </a:r>
            <a:r>
              <a:rPr sz="1000" b="1">
                <a:solidFill>
                  <a:srgbClr val="94A3B8"/>
                </a:solidFill>
                <a:latin typeface="Consolas"/>
              </a:rPr>
              <a:t>test_cases Table Definition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-- DDL: Test Cases with Dual Foreign Keys &amp; Constraints
CREATE TABLE test_cases (
    id BIGINT AUTO_INCREMENT PRIMARY KEY,
    class_id BIGINT NOT NULL,
    method_id BIGINT,
    test_name VARCHAR(200) NOT NULL,
    test_type VARCHAR(50) NOT NULL,
    generated_code CLOB,
    assertion_count INT DEFAULT 0,
    is_weak BOOLEAN DEFAULT FALSE,
    description VARCHAR(500),
    CONSTRAINT fk_testcases_class
        FOREIGN KEY (class_id) REFERENCES classes(id)
        ON DELETE CASCADE,
    CONSTRAINT fk_testcases_method
        FOREIGN KEY (method_id) REFERENCES methods(id)
        ON DELETE SET NULL
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DBMS UNIT II | SQL QUERIES &amp; VIEWS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II: Analytical SQL Views &amp; Derived Subqueries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5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" y="13614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112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View Architecture &amp; Aggregates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View Abstraction: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latest_class_health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view consolidates coverage, mutation scores, and flaky metrics into one virtual table.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Correlated Subqueries: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Aggregates total flaky test occurrences and weak assertion counts per class.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Derived Tables &amp; Joins: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Employs INNER JOIN on MAX(id) derived queries to fetch only the latest test run per class.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COALESCE Function: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Replaces NULL values with default 0.0 metrics for pristine presentation layer consumption.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[SQL] </a:t>
            </a:r>
            <a:r>
              <a:rPr sz="1000" b="1">
                <a:solidFill>
                  <a:srgbClr val="94A3B8"/>
                </a:solidFill>
                <a:latin typeface="Consolas"/>
              </a:rPr>
              <a:t>latest_class_health SQL View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CREATE OR REPLACE VIEW latest_class_health AS
SELECT 
    c.id AS class_id, c.class_name, c.project_id,
    COALESCE(cov.line_coverage_pct, 0.0) AS latest_coverage,
    COALESCE(mut.mutation_score_pct, 0.0) AS latest_mutation_score,
    (SELECT COUNT(*) FROM flaky_tests ft 
     JOIN test_cases tc ON ft.test_case_id = tc.id 
     WHERE tc.class_id = c.id) AS total_flaky_count,
    (SELECT COUNT(*) FROM test_cases tc 
     WHERE tc.class_id = c.id AND tc.is_weak = TRUE) AS weak_test_count
FROM classes c
LEFT JOIN (
    SELECT cr1.* FROM coverage_results cr1
    INNER JOIN (SELECT class_id, MAX(id) AS max_id 
                FROM coverage_results GROUP BY class_id) cr2
    ON cr1.id = cr2.max_id
) cov ON c.id = cov.class_id
LEFT JOIN (
    SELECT mr1.* FROM mutation_results mr1
    INNER JOIN (SELECT class_id, MAX(id) AS max_id 
                FROM mutation_results GROUP BY class_id) mr2
    ON mr1.id = mr2.max_id
) mut ON c.id = mut.class_id;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DBMS UNIT III | NORMAL FORMS &amp; ANOMALY ELIMINATION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III: Database Normalization (1NF -&gt; 2NF -&gt; 3NF)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6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980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Normalization Proof &amp; Justification</a:t>
            </a:r>
          </a:p>
          <a:p>
            <a:pPr>
              <a:spcAft>
                <a:spcPts val="600"/>
              </a:spcAft>
            </a:pPr>
            <a:r>
              <a:rPr sz="1050" b="1" dirty="0">
                <a:solidFill>
                  <a:srgbClr val="2563EB"/>
                </a:solidFill>
                <a:latin typeface="Segoe UI"/>
              </a:rPr>
              <a:t>▪</a:t>
            </a:r>
            <a:r>
              <a:rPr b="1" dirty="0">
                <a:solidFill>
                  <a:srgbClr val="2563EB"/>
                </a:solidFill>
                <a:latin typeface="Segoe UI"/>
              </a:rPr>
              <a:t> </a:t>
            </a:r>
            <a:r>
              <a:rPr b="1" dirty="0">
                <a:solidFill>
                  <a:srgbClr val="0F172A"/>
                </a:solidFill>
                <a:latin typeface="Segoe UI"/>
              </a:rPr>
              <a:t>1NF (First Normal Form):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All table attributes contain strictly atomic scalar values; zero repeating groups or unnested arrays.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2NF (Second Normal Form):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Eliminates partial dependencies. All non-key attributes fully depend on the complete Primary Key (id).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3NF (Third Normal Form):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Eliminates transitive dependencies (X -&gt; Y -&gt; Z). Methods, Runs, Results, and Coverage are segregated.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Anomaly Elimination: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Insertion/Deletion/Update anomalies are completely prevented when modifying test runs or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[SQL] </a:t>
            </a:r>
            <a:r>
              <a:rPr sz="1000" b="1">
                <a:solidFill>
                  <a:srgbClr val="94A3B8"/>
                </a:solidFill>
                <a:latin typeface="Consolas"/>
              </a:rPr>
              <a:t>3NF Schema Decomposition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-- Normalization Demonstration:
-- Segregated Run and Result entities satisfy 3NF
CREATE TABLE test_runs (
    id BIGINT AUTO_INCREMENT PRIMARY KEY,
    project_id BIGINT NOT NULL,
    run_timestamp TIMESTAMP NOT NULL,
    total_tests INT DEFAULT 0,
    passed_tests INT DEFAULT 0,
    failed_tests INT DEFAULT 0,
    execution_duration_ms BIGINT DEFAULT 0,
    CONSTRAINT fk_testruns_proj FOREIGN KEY (project_id)
        REFERENCES projects(id) ON DELETE CASCADE
);
CREATE TABLE test_results (
    id BIGINT AUTO_INCREMENT PRIMARY KEY,
    test_case_id BIGINT NOT NULL,
    run_id BIGINT NOT NULL,
    status VARCHAR(20) NOT NULL,
    execution_time_ms BIGINT DEFAULT 0,
    CONSTRAINT fk_res_tc FOREIGN KEY (test_case_id)
        REFERENCES test_cases(id) ON DELETE CASCADE,
    CONSTRAINT fk_res_run FOREIGN KEY (run_id)
        REFERENCES test_runs(id) ON DELETE CASCADE
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DBMS UNIT IV | ACID COMPLIANCE &amp; CONCURRENCY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IV: Transaction Management &amp; ACID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7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3240" y="137160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112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ACID Implementation Mechanics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Atomicity (All-or-Nothing):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@Transactional boundary guarantees test run and all test result records commit together or roll back.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Consistency &amp; Integrity: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Foreign key references strictly validated; database transitions between valid relational states.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Isolation Levels: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HikariCP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connection pool manages isolation; read operations use @Transactional(readOnly = true).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Durability: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Committed test runs,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JaCoCo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coverage metrics, and mutant logs persist permanently across JVM reboots.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Spring @Transactional Service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@Service
public class DatabaseManager {
    // Unit IV: Atomic Transaction Execution Boundary
    @Transactional
    public TestRunEntity recordTestRun(ProjectEntity proj,
                                      TestExecutionSummary exec,
                                      Map&lt;String, TestCaseEntity&gt; tcMap) {
        // 1. Insert Parent Run Entity
        TestRunEntity run = new TestRunEntity(proj, "SYSTEM",
            exec.getTotalCount(), exec.getPassedCount(),
            exec.getFailedCount(), exec.getTotalTimeMs());
        run = testRunRepository.save(run);
        // 2. Insert Child Results (Guaranteed Atomicity)
        for (SingleTestResult r : exec.getResults()) {
            TestCaseEntity tc = tcMap.get(r.getTestName());
            if (tc != null) {
                TestResultEntity res = new TestResultEntity(
                    tc, run, r.getStatus(), r.getExecutionTimeMs(),
                    r.getStackTrace(), r.getErrorMessage());
                testResultRepository.save(res);
            }
        }
        return run; // Atomic commit on completion
    }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DBMS UNIT V | FILE ORGANIZATION &amp; INDEXING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V: Secondary B-Tree Indexing &amp; Query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Database Management Systems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8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4520" y="13741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112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3A8A"/>
                </a:solidFill>
                <a:latin typeface="Segoe UI"/>
              </a:rPr>
              <a:t>Indexing Strategy &amp; Benefits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B-Tree Indexing Architecture: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Created explicit secondary indexes on all foreign keys to avoid full table scans during joins.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Timestamp Indexing: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idx_testruns_time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optimizes chronological ordering and time-series trend analysis.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Performance Benchmark: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Reduces regression history lookup time from O(N) linear scan to O(log N) tree traversal.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  <a:latin typeface="Segoe UI"/>
              </a:rPr>
              <a:t>▪ </a:t>
            </a:r>
            <a:r>
              <a:rPr b="1" dirty="0">
                <a:solidFill>
                  <a:srgbClr val="0F172A"/>
                </a:solidFill>
                <a:latin typeface="Segoe UI"/>
              </a:rPr>
              <a:t>Clustered vs Non-Clustered: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Primary keys serve as clustered indexes; foreign keys indexed via secondary B-Trees.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[SQL] </a:t>
            </a:r>
            <a:r>
              <a:rPr sz="1000" b="1">
                <a:solidFill>
                  <a:srgbClr val="94A3B8"/>
                </a:solidFill>
                <a:latin typeface="Consolas"/>
              </a:rPr>
              <a:t>B-Tree Index DDL Script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-- Unit V: Explicit Secondary B-Tree Indexes
-- Eliminates table scans during multi-table joins
CREATE INDEX IF NOT EXISTS idx_classes_proj 
    ON classes(project_id);
CREATE INDEX IF NOT EXISTS idx_methods_cls 
    ON methods(class_id);
CREATE INDEX IF NOT EXISTS idx_testcases_cls 
    ON test_cases(class_id);
CREATE INDEX IF NOT EXISTS idx_testruns_time 
    ON test_runs(run_timestamp);
CREATE INDEX IF NOT EXISTS idx_testresults_run 
    ON test_results(run_id);
CREATE INDEX IF NOT EXISTS idx_coverage_cls 
    ON coverage_results(class_id);
CREATE INDEX IF NOT EXISTS idx_mutation_cls 
    ON mutation_results(class_id);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38BDF8"/>
                </a:solidFill>
                <a:latin typeface="Segoe UI"/>
              </a:rPr>
              <a:t>SUMMARY &amp; KEY TAKEAWAYS</a:t>
            </a:r>
          </a:p>
          <a:p>
            <a:pPr>
              <a:spcAft>
                <a:spcPts val="1200"/>
              </a:spcAft>
            </a:pPr>
            <a:r>
              <a:rPr sz="2400" b="1" dirty="0">
                <a:solidFill>
                  <a:srgbClr val="FFFFFF"/>
                </a:solidFill>
                <a:latin typeface="Segoe UI"/>
              </a:rPr>
              <a:t>Comprehensive Realization of DBMS Theory in Real-World Software</a:t>
            </a:r>
          </a:p>
          <a:p>
            <a:r>
              <a:rPr sz="1200" dirty="0">
                <a:solidFill>
                  <a:srgbClr val="CBD5E1"/>
                </a:solidFill>
                <a:latin typeface="Segoe UI"/>
              </a:rPr>
              <a:t>✓ 10-Entity Normalized 3NF Schema eliminating all forms of data anomalies.
✓ Real-world implementation of Relational Algebra, SQL Views, Aggregates, and Joins.
✓ Industrial-grade Transaction Management (@Transactional) satisfying strict ACID properties.
✓ Secondary B-Tree Indexing accelerating regression lookups and dashboard rendering.
✓ Seamlessly supports H2 Embedded, MySQL 8.0 Enterprise, and PostgreSQL 15 engines.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2307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Hasini Mirtipati</cp:lastModifiedBy>
  <cp:revision>2</cp:revision>
  <dcterms:created xsi:type="dcterms:W3CDTF">2013-01-27T09:14:16Z</dcterms:created>
  <dcterms:modified xsi:type="dcterms:W3CDTF">2026-09-30T15:51:04Z</dcterms:modified>
  <cp:category/>
</cp:coreProperties>
</file>