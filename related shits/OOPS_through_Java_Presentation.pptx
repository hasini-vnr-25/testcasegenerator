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CURRICULAR BASED PROJECT (CBP) PRESENTATION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Object-Oriented Programming (OOPS) through Java:
Architecture, Design Patterns &amp; Dynamic AST Synthesizers</a:t>
            </a:r>
          </a:p>
          <a:p>
            <a:pPr>
              <a:spcAft>
                <a:spcPts val="1600"/>
              </a:spcAft>
            </a:pPr>
            <a:r>
              <a:rPr sz="1400">
                <a:solidFill>
                  <a:srgbClr val="94A3B8"/>
                </a:solidFill>
                <a:latin typeface="Segoe UI"/>
              </a:rPr>
              <a:t>Comprehensive Mapping of VNRVJIET 3rd Semester CSBS Java/OOPS Syllabus to Project Codebase</a:t>
            </a:r>
          </a:p>
          <a:p>
            <a:r>
              <a:rPr sz="1100">
                <a:solidFill>
                  <a:srgbClr val="CBD5E1"/>
                </a:solidFill>
                <a:latin typeface="Segoe UI"/>
              </a:rPr>
              <a:t>Institution: VNR Vignana Jyothi Institute of Engineering and Technology (VNRVJIET)
Department: Computer Science and Business Systems (CSBS)
Core Stack: Java 21 LTS | JavaParser | JUnit 5 | Mockito | Spring Boot 3.2.4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CURRICULUM MAPPING | VNRVJIET 3RD SEM CSBS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Java/OOPS Syllabus Alignment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OOPS through Java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2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Segoe UI"/>
              </a:rPr>
              <a:t>Syllabus Units I to III Focus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Unit I: Core OOP Fundamentals: </a:t>
            </a:r>
            <a:r>
              <a:rPr sz="1000">
                <a:solidFill>
                  <a:srgbClr val="334155"/>
                </a:solidFill>
                <a:latin typeface="Segoe UI"/>
              </a:rPr>
              <a:t>Data Encapsulation, Class/Object instantiation, Constructor chaining, this keyword.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Unit II: Inheritance &amp; Interfaces: </a:t>
            </a:r>
            <a:r>
              <a:rPr sz="1000">
                <a:solidFill>
                  <a:srgbClr val="334155"/>
                </a:solidFill>
                <a:latin typeface="Segoe UI"/>
              </a:rPr>
              <a:t>Abstract base classes, interface contracts, dynamic method dispatch, LSP verification.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Unit III: Exceptions &amp; Concurrency: </a:t>
            </a:r>
            <a:r>
              <a:rPr sz="1000">
                <a:solidFill>
                  <a:srgbClr val="334155"/>
                </a:solidFill>
                <a:latin typeface="Segoe UI"/>
              </a:rPr>
              <a:t>Defensive try-catch compilation diagnostics, AtomicInteger thread-safe counters.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Segoe UI"/>
              </a:rPr>
              <a:t>Syllabus Units IV &amp; V Focus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Unit IV: Collections &amp; Generics: </a:t>
            </a:r>
            <a:r>
              <a:rPr sz="1000">
                <a:solidFill>
                  <a:srgbClr val="334155"/>
                </a:solidFill>
                <a:latin typeface="Segoe UI"/>
              </a:rPr>
              <a:t>Set intersection in Greedy Set-Cover, generic Lists/Maps, Streams &amp; Lambdas.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Unit V: Reflection &amp; Design Patterns: </a:t>
            </a:r>
            <a:r>
              <a:rPr sz="1000">
                <a:solidFill>
                  <a:srgbClr val="334155"/>
                </a:solidFill>
                <a:latin typeface="Segoe UI"/>
              </a:rPr>
              <a:t>javax.tools.JavaCompiler dynamic loading, Strategy, Factory, Template Method, Observer patterns.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Mock Collaborator Injection: </a:t>
            </a:r>
            <a:r>
              <a:rPr sz="1000">
                <a:solidFill>
                  <a:srgbClr val="334155"/>
                </a:solidFill>
                <a:latin typeface="Segoe UI"/>
              </a:rPr>
              <a:t>Mockito mock integration for complex interface/abstract service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JAVA UNIT I | OOP FUNDAMENTALS &amp; CLASSES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Unit I: Encapsulation, State Hiding &amp; Domain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OOPS through Java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3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Segoe UI"/>
              </a:rPr>
              <a:t>Encapsulation Principles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Data Encapsulation: </a:t>
            </a:r>
            <a:r>
              <a:rPr sz="1000">
                <a:solidFill>
                  <a:srgbClr val="334155"/>
                </a:solidFill>
                <a:latin typeface="Segoe UI"/>
              </a:rPr>
              <a:t>Private immutable fields with strictly controlled public getters ensure encapsulation integrity.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Constructor Initialization: </a:t>
            </a:r>
            <a:r>
              <a:rPr sz="1000">
                <a:solidFill>
                  <a:srgbClr val="334155"/>
                </a:solidFill>
                <a:latin typeface="Segoe UI"/>
              </a:rPr>
              <a:t>Parameterized constructors bind parameters using 'this' keyword disambiguation.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State Invariant Validation: </a:t>
            </a:r>
            <a:r>
              <a:rPr sz="1000">
                <a:solidFill>
                  <a:srgbClr val="334155"/>
                </a:solidFill>
                <a:latin typeface="Segoe UI"/>
              </a:rPr>
              <a:t>Domain entities protect against null references and invalid class metadata states.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Defensive Copying: </a:t>
            </a:r>
            <a:r>
              <a:rPr sz="1000">
                <a:solidFill>
                  <a:srgbClr val="334155"/>
                </a:solidFill>
                <a:latin typeface="Segoe UI"/>
              </a:rPr>
              <a:t>Collections inside ClassInfo are wrapped as unmodifiable lists to prevent external tampering.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[Java] </a:t>
            </a:r>
            <a:r>
              <a:rPr sz="1000" b="1">
                <a:solidFill>
                  <a:srgbClr val="94A3B8"/>
                </a:solidFill>
                <a:latin typeface="Consolas"/>
              </a:rPr>
              <a:t>ParameterInfo Encapsulation</a:t>
            </a:r>
          </a:p>
          <a:p>
            <a:pPr>
              <a:spcAft>
                <a:spcPts val="0"/>
              </a:spcAft>
            </a:pPr>
            <a:r>
              <a:rPr sz="819">
                <a:solidFill>
                  <a:srgbClr val="E2E8F0"/>
                </a:solidFill>
                <a:latin typeface="Consolas"/>
              </a:rPr>
              <a:t>package com.cbp.testgen.analyzer.model;
public class ParameterInfo {
    // Unit I: Private fields enforcing Data Hiding
    private final String name;
    private final String type;
    private final boolean isPrimitive;
    // Parameterized Constructor &amp; 'this' keyword
    public ParameterInfo(String name, String type, boolean isPrimitive) {
        this.name = name;
        this.type = type;
        this.isPrimitive = isPrimitive;
    }
    // Public Accessors (Controlled Read Interface)
    public String getName() { return name; }
    public String getType() { return type; }
    public boolean isPrimitive() { return isPrimitive; }
    public boolean isNumeric() {
        return "int".equals(type) || "double".equals(type) ||
               "long".equals(type) || "float".equals(type);
    }
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JAVA UNIT II | INTERFACES &amp; DYNAMIC DISPATCH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Unit II: Interfaces, Polymorphism &amp; The Strategy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OOPS through Java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4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Segoe UI"/>
              </a:rPr>
              <a:t>Polymorphic Strategy Architecture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Interface Contract: </a:t>
            </a:r>
            <a:r>
              <a:rPr sz="1000">
                <a:solidFill>
                  <a:srgbClr val="334155"/>
                </a:solidFill>
                <a:latin typeface="Segoe UI"/>
              </a:rPr>
              <a:t>InputGenerationStrategy defines the polymorphic blueprint for all value generation algorithms.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Dynamic Method Dispatch: </a:t>
            </a:r>
            <a:r>
              <a:rPr sz="1000">
                <a:solidFill>
                  <a:srgbClr val="334155"/>
                </a:solidFill>
                <a:latin typeface="Segoe UI"/>
              </a:rPr>
              <a:t>InputGenerator invokes concrete strategies polymorphically at runtime via interface reference.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Loose Coupling (Open/Closed): </a:t>
            </a:r>
            <a:r>
              <a:rPr sz="1000">
                <a:solidFill>
                  <a:srgbClr val="334155"/>
                </a:solidFill>
                <a:latin typeface="Segoe UI"/>
              </a:rPr>
              <a:t>New generation algorithms (e.g. FuzzingStrategy) can be plugged in without modifying core engine.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Multiple Implementations: </a:t>
            </a:r>
            <a:r>
              <a:rPr sz="1000">
                <a:solidFill>
                  <a:srgbClr val="334155"/>
                </a:solidFill>
                <a:latin typeface="Segoe UI"/>
              </a:rPr>
              <a:t>BoundaryValueStrategy, EquivalencePartitionStrategy, PairwiseCombinator implement the contract.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[Java] </a:t>
            </a:r>
            <a:r>
              <a:rPr sz="1000" b="1">
                <a:solidFill>
                  <a:srgbClr val="94A3B8"/>
                </a:solidFill>
                <a:latin typeface="Consolas"/>
              </a:rPr>
              <a:t>Polymorphic Strategy Pattern</a:t>
            </a:r>
          </a:p>
          <a:p>
            <a:pPr>
              <a:spcAft>
                <a:spcPts val="0"/>
              </a:spcAft>
            </a:pPr>
            <a:r>
              <a:rPr sz="819">
                <a:solidFill>
                  <a:srgbClr val="E2E8F0"/>
                </a:solidFill>
                <a:latin typeface="Consolas"/>
              </a:rPr>
              <a:t>// Interface Defining the Input Strategy Contract
public interface InputGenerationStrategy {
    String getStrategyName();
    List&lt;InputValue&gt; generateValues(ParameterInfo parameter);
    boolean supports(ParameterInfo parameter);
}
// Concrete Implementation: Boundary Value Analysis (BVA)
@Component
public class BoundaryValueStrategy implements InputGenerationStrategy {
    @Override
    public String getStrategyName() { return "BOUNDARY_VALUE"; }
    @Override
    public List&lt;InputValue&gt; generateValues(ParameterInfo param) {
        List&lt;InputValue&gt; values = new ArrayList&lt;&gt;();
        if ("int".equals(param.getType())) {
            values.add(new InputValue("Integer.MIN_VALUE", "min boundary"));
            values.add(new InputValue("0", "zero boundary"));
            values.add(new InputValue("Integer.MAX_VALUE", "max boundary"));
        }
        return values;
    }
    @Override
    public boolean supports(ParameterInfo p) { return p.isNumeric(); }
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JAVA UNIT II | INHERITANCE &amp; LSP CHECKS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Unit II: Inheritance &amp; Liskov Substitution Principle (LSP)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OOPS through Java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5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Segoe UI"/>
              </a:rPr>
              <a:t>LSP &amp; OOP-Aware Synthesis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Liskov Substitution Principle: </a:t>
            </a:r>
            <a:r>
              <a:rPr sz="1000">
                <a:solidFill>
                  <a:srgbClr val="334155"/>
                </a:solidFill>
                <a:latin typeface="Segoe UI"/>
              </a:rPr>
              <a:t>Subclasses must be substitutable for their superclass without altering program correctness.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Dynamic Polymorphic Checking: </a:t>
            </a:r>
            <a:r>
              <a:rPr sz="1000">
                <a:solidFill>
                  <a:srgbClr val="334155"/>
                </a:solidFill>
                <a:latin typeface="Segoe UI"/>
              </a:rPr>
              <a:t>OopTestGenerator inspects class hierarchy and generates tests assigning subclass to superclass references.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State Sequence Validation: </a:t>
            </a:r>
            <a:r>
              <a:rPr sz="1000">
                <a:solidFill>
                  <a:srgbClr val="334155"/>
                </a:solidFill>
                <a:latin typeface="Segoe UI"/>
              </a:rPr>
              <a:t>Synthesizes setter -&gt; getter invariant tests to verify internal object state consistency.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Mockito Mock Injection: </a:t>
            </a:r>
            <a:r>
              <a:rPr sz="1000">
                <a:solidFill>
                  <a:srgbClr val="334155"/>
                </a:solidFill>
                <a:latin typeface="Segoe UI"/>
              </a:rPr>
              <a:t>Automatically detects and injects @Mock objects for abstract dependencies (e.g., NotificationService).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[Java] </a:t>
            </a:r>
            <a:r>
              <a:rPr sz="1000" b="1">
                <a:solidFill>
                  <a:srgbClr val="94A3B8"/>
                </a:solidFill>
                <a:latin typeface="Consolas"/>
              </a:rPr>
              <a:t>LSP Verification Generator</a:t>
            </a:r>
          </a:p>
          <a:p>
            <a:pPr>
              <a:spcAft>
                <a:spcPts val="0"/>
              </a:spcAft>
            </a:pPr>
            <a:r>
              <a:rPr sz="819">
                <a:solidFill>
                  <a:srgbClr val="E2E8F0"/>
                </a:solidFill>
                <a:latin typeface="Consolas"/>
              </a:rPr>
              <a:t>@Component
public class OopTestGenerator {
    public GeneratedOopTest generateLspTest(ClassInfo classInfo) {
        String className = classInfo.getClassName();
        String superClass = classInfo.getSuperClass();
        String testName = "lsp_polymorphicSubstitution_satisfiesParentContract";
        StringBuilder sb = new StringBuilder();
        sb.append("    @Test\n");
        sb.append("    @DisplayName(\"LSP Check: ").append(className)
          .append(" can be substituted as ").append(superClass).append("\")\n");
        sb.append("    void ").append(testName).append("() {\n");
        sb.append("        // Arrange: Instantiate child via parent ref\n");
        sb.append("        ").append(superClass).append(" parentRef = new ")
          .append(className).append("();\n");
        sb.append("        // Act &amp; Assert: Validate contract adherence\n");
        sb.append("        assertNotNull(parentRef);\n");
        sb.append("        assertTrue(parentRef instanceof ").append(superClass).append(");\n");
        sb.append("        assertTrue(parentRef instanceof ").append(className).append(");\n");
        sb.append("    }\n");
        return new GeneratedOopTest(testName, sb.toString(), "LISKOV_SUBSTITUTION", "LSP Check");
    }
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JAVA UNIT III | EXCEPTION HANDLING ARCHITECTURE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Unit III: Robust Exception Handling &amp; Defensive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OOPS through Java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6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Segoe UI"/>
              </a:rPr>
              <a:t>Defensive Exception Architecture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Checked vs Unchecked: </a:t>
            </a:r>
            <a:r>
              <a:rPr sz="1000">
                <a:solidFill>
                  <a:srgbClr val="334155"/>
                </a:solidFill>
                <a:latin typeface="Segoe UI"/>
              </a:rPr>
              <a:t>Safely catches compilation and reflection exceptions without crashing the host Spring Boot JVM.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DiagnosticCollector: </a:t>
            </a:r>
            <a:r>
              <a:rPr sz="1000">
                <a:solidFill>
                  <a:srgbClr val="334155"/>
                </a:solidFill>
                <a:latin typeface="Segoe UI"/>
              </a:rPr>
              <a:t>Captures exact line-by-line compiler error diagnostics when evaluating AST mutants.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Atomic Thread Safety: </a:t>
            </a:r>
            <a:r>
              <a:rPr sz="1000">
                <a:solidFill>
                  <a:srgbClr val="334155"/>
                </a:solidFill>
                <a:latin typeface="Segoe UI"/>
              </a:rPr>
              <a:t>AtomicInteger mutantCounter provides thread-safe concurrent mutant identifier generation.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Clean Resource Teardown: </a:t>
            </a:r>
            <a:r>
              <a:rPr sz="1000">
                <a:solidFill>
                  <a:srgbClr val="334155"/>
                </a:solidFill>
                <a:latin typeface="Segoe UI"/>
              </a:rPr>
              <a:t>StandardJavaFileManager utilizes try-with-resources to prevent memory leaks.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[Java] </a:t>
            </a:r>
            <a:r>
              <a:rPr sz="1000" b="1">
                <a:solidFill>
                  <a:srgbClr val="94A3B8"/>
                </a:solidFill>
                <a:latin typeface="Consolas"/>
              </a:rPr>
              <a:t>Exception-Safe Dynamic Compiler</a:t>
            </a:r>
          </a:p>
          <a:p>
            <a:pPr>
              <a:spcAft>
                <a:spcPts val="0"/>
              </a:spcAft>
            </a:pPr>
            <a:r>
              <a:rPr sz="819">
                <a:solidFill>
                  <a:srgbClr val="E2E8F0"/>
                </a:solidFill>
                <a:latin typeface="Consolas"/>
              </a:rPr>
              <a:t>// Unit III: Dynamic In-Process Java Compilation with Diagnostics
public CompilationResult compileSources(Map&lt;String, String&gt; sourceMap) {
    DiagnosticCollector&lt;JavaFileObject&gt; diagnostics = new DiagnosticCollector&lt;&gt;();
    // try-with-resources guarantees fileManager is cleanly closed
    try (StandardJavaFileManager stdFileManager = 
            compiler.getStandardFileManager(diagnostics, null, StandardCharsets.UTF_8)) {
        InMemoryFileManager fileManager = new InMemoryFileManager(stdFileManager);
        List&lt;JavaFileObject&gt; units = sourceMap.entrySet().stream()
            .map(e -&gt; new SourceJavaFileObject(e.getKey(), e.getValue()))
            .collect(Collectors.toList());
        JavaCompiler.CompilationTask task = compiler.getTask(
            null, fileManager, diagnostics, options, null, units);
        boolean success = task.call();
        return new CompilationResult(success, fileManager.getCompiledBytecode(), diagnostics.getDiagnostics());
    } catch (Exception e) {
        logger.error("Compilation failed defensively: {}", e.getMessage());
        return new CompilationResult(false, Collections.emptyMap(), Collections.emptyList());
    }
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JAVA UNIT IV | COLLECTIONS &amp; GREEDY SET-COVER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Unit IV: Collections Framework, Generics &amp;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OOPS through Java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7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Segoe UI"/>
              </a:rPr>
              <a:t>Collections &amp; Set Algorithms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Generic Map &amp; Set Collections: </a:t>
            </a:r>
            <a:r>
              <a:rPr sz="1000">
                <a:solidFill>
                  <a:srgbClr val="334155"/>
                </a:solidFill>
                <a:latin typeface="Segoe UI"/>
              </a:rPr>
              <a:t>Map&lt;String, Set&lt;String&gt;&gt; maps each test case to its universe of satisfied goals (methods &amp; mutants).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Mathematical Set Operations: </a:t>
            </a:r>
            <a:r>
              <a:rPr sz="1000">
                <a:solidFill>
                  <a:srgbClr val="334155"/>
                </a:solidFill>
                <a:latin typeface="Segoe UI"/>
              </a:rPr>
              <a:t>candidateGoals.retainAll(uncoveredGoals) calculates set intersection gain per iteration.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Stream Pipelines &amp; Lambdas: </a:t>
            </a:r>
            <a:r>
              <a:rPr sz="1000">
                <a:solidFill>
                  <a:srgbClr val="334155"/>
                </a:solidFill>
                <a:latin typeface="Segoe UI"/>
              </a:rPr>
              <a:t>Java Streams filter, map, and collect active mutants and execution metrics fluently.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Greedy Optimization: </a:t>
            </a:r>
            <a:r>
              <a:rPr sz="1000">
                <a:solidFill>
                  <a:srgbClr val="334155"/>
                </a:solidFill>
                <a:latin typeface="Segoe UI"/>
              </a:rPr>
              <a:t>Achieves 30% to 50% test suite reduction while mathematically preserving 100% goal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[Java] </a:t>
            </a:r>
            <a:r>
              <a:rPr sz="1000" b="1">
                <a:solidFill>
                  <a:srgbClr val="94A3B8"/>
                </a:solidFill>
                <a:latin typeface="Consolas"/>
              </a:rPr>
              <a:t>Greedy Set-Cover Minimizer</a:t>
            </a:r>
          </a:p>
          <a:p>
            <a:pPr>
              <a:spcAft>
                <a:spcPts val="0"/>
              </a:spcAft>
            </a:pPr>
            <a:r>
              <a:rPr sz="819">
                <a:solidFill>
                  <a:srgbClr val="E2E8F0"/>
                </a:solidFill>
                <a:latin typeface="Consolas"/>
              </a:rPr>
              <a:t>@Component
public class TestSuiteMinimizer {
    public MinimizationReport minimizeTestSuite(
            List&lt;GeneratedTestCaseData&gt; allTests,
            MutationResultSummary mutationSummary) {
        // Unit IV: Generic Sets &amp; Greedy Algorithm
        Set&lt;String&gt; uncoveredGoals = new HashSet&lt;&gt;(universe);
        List&lt;GeneratedTestCaseData&gt; selectedTests = new ArrayList&lt;&gt;();
        Set&lt;String&gt; selectedNames = new HashSet&lt;&gt;();
        while (!uncoveredGoals.isEmpty()) {
            GeneratedTestCaseData bestCandidate = null;
            int maxGain = -1;
            Set&lt;String&gt; bestCoveredSubset = Collections.emptySet();
            for (GeneratedTestCaseData tc : allTests) {
                if (selectedNames.contains(tc.getTestName())) continue;
                Set&lt;String&gt; candidateGoals = new HashSet&lt;&gt;(testToGoalsMap.get(tc.getTestName()));
                candidateGoals.retainAll(uncoveredGoals); // Set Intersection
                if (candidateGoals.size() &gt; maxGain) {
                    maxGain = candidateGoals.size();
                    bestCandidate = tc;
                    bestCoveredSubset = candidateGoals;
                }
            }
            selectedTests.add(bestCandidate);
            selectedNames.add(bestCandidate.getTestName());
            uncoveredGoals.removeAll(bestCoveredSubset);
        }
        return new MinimizationReport(allTests.size(), selectedTests.size(), ...);
    }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JAVA UNIT V | REFLECTION &amp; DESIGN PATTERNS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Segoe UI"/>
              </a:rPr>
              <a:t>Unit V: Reflection, Dynamic Execution &amp; GoF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VNRVJIET | Dept of CSBS (3rd Sem) — OOPS through Java</a:t>
            </a:r>
            <a:r>
              <a:rPr sz="900" b="1">
                <a:solidFill>
                  <a:srgbClr val="64748B"/>
                </a:solidFill>
                <a:latin typeface="Segoe UI"/>
              </a:rPr>
              <a:t>    •    Slide 8 of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Segoe UI"/>
              </a:rPr>
              <a:t>Reflection &amp; Design Patterns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Java Reflection &amp; ClassLoaders: </a:t>
            </a:r>
            <a:r>
              <a:rPr sz="1000">
                <a:solidFill>
                  <a:srgbClr val="334155"/>
                </a:solidFill>
                <a:latin typeface="Segoe UI"/>
              </a:rPr>
              <a:t>Compiled bytecode is loaded into an in-memory ClassLoader and executed via JUnit Platform Launcher.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Strategy Pattern: </a:t>
            </a:r>
            <a:r>
              <a:rPr sz="1000">
                <a:solidFill>
                  <a:srgbClr val="334155"/>
                </a:solidFill>
                <a:latin typeface="Segoe UI"/>
              </a:rPr>
              <a:t>InputGenerationStrategy enables interchangeable generation algorithms (BVA, ECP, Pairwise).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Factory Pattern: </a:t>
            </a:r>
            <a:r>
              <a:rPr sz="1000">
                <a:solidFill>
                  <a:srgbClr val="334155"/>
                </a:solidFill>
                <a:latin typeface="Segoe UI"/>
              </a:rPr>
              <a:t>JUnit5TestGenerator dynamically manufactures Arrange-Act-Assert formatted test instances.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▪ </a:t>
            </a:r>
            <a:r>
              <a:rPr sz="1050" b="1">
                <a:solidFill>
                  <a:srgbClr val="0F172A"/>
                </a:solidFill>
                <a:latin typeface="Segoe UI"/>
              </a:rPr>
              <a:t>Observer Pattern: </a:t>
            </a:r>
            <a:r>
              <a:rPr sz="1000">
                <a:solidFill>
                  <a:srgbClr val="334155"/>
                </a:solidFill>
                <a:latin typeface="Segoe UI"/>
              </a:rPr>
              <a:t>PipelineService streams progress updates asynchronously via Server-Sent Events (SSE) to the Web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[Java] </a:t>
            </a:r>
            <a:r>
              <a:rPr sz="1000" b="1">
                <a:solidFill>
                  <a:srgbClr val="94A3B8"/>
                </a:solidFill>
                <a:latin typeface="Consolas"/>
              </a:rPr>
              <a:t>Reflection &amp; Pattern Execution</a:t>
            </a:r>
          </a:p>
          <a:p>
            <a:pPr>
              <a:spcAft>
                <a:spcPts val="0"/>
              </a:spcAft>
            </a:pPr>
            <a:r>
              <a:rPr sz="819">
                <a:solidFill>
                  <a:srgbClr val="E2E8F0"/>
                </a:solidFill>
                <a:latin typeface="Consolas"/>
              </a:rPr>
              <a:t>// Unit V: Dynamic In-Memory Class Loading &amp; Reflection
Class&lt;?&gt; testClass = compResult.getClassLoader().loadClass(
    testSuite.getPackageName() + "." + testSuite.getTestClassName()
);
// JUnit 5 Platform Launcher Execution
LauncherDiscoveryRequest request = LauncherDiscoveryRequestBuilder.request()
    .selectors(DiscoverySelectors.selectClass(testClass))
    .build();
Launcher launcher = LauncherFactory.create();
TestPlan testPlan = launcher.discover(request);
launcher.execute(request, customExecutionListener);
// Strategy Pattern Dispatch in InputGenerator
for (InputGenerationStrategy strategy : registeredStrategies) {
    if (strategy.supports(parameter)) {
        values.addAll(strategy.generateValues(parameter));
    }
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SUMMARY &amp; KEY TAKEAWAYS</a:t>
            </a:r>
          </a:p>
          <a:p>
            <a:pPr>
              <a:spcAft>
                <a:spcPts val="1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Mastery of Modern Object-Oriented Engineering in Java</a:t>
            </a:r>
          </a:p>
          <a:p>
            <a:r>
              <a:rPr sz="1200">
                <a:solidFill>
                  <a:srgbClr val="CBD5E1"/>
                </a:solidFill>
                <a:latin typeface="Segoe UI"/>
              </a:rPr>
              <a:t>✓ Clean Encapsulation and Domain Abstraction using Java 21 LTS record-like models.
✓ Runtime Polymorphism &amp; GoF Patterns (Strategy, Factory, Template Method, Observer).
✓ Advanced OOP contract enforcement via Liskov Substitution Principle &amp; Mockito injection.
✓ Defensive exception handling, try-with-resources, and Atomic thread-safe primitives.
✓ In-memory dynamic compilation (javax.tools.JavaCompiler) and reflective JUnit 5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